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105D88-97C9-4651-A864-CF4C64408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72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8743"/>
                </a:solidFill>
                <a:latin typeface="Aptos"/>
              </a:defRPr>
            </a:pPr>
            <a:r>
              <a:t>01 ·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233"/>
                </a:solidFill>
                <a:latin typeface="Aptos"/>
              </a:defRPr>
            </a:pPr>
            <a:r>
              <a:rPr dirty="0" err="1"/>
              <a:t>Mensajería</a:t>
            </a:r>
            <a:r>
              <a:rPr dirty="0"/>
              <a:t> Cloud Native </a:t>
            </a:r>
            <a:r>
              <a:rPr dirty="0" err="1"/>
              <a:t>en</a:t>
            </a:r>
            <a:r>
              <a:rPr dirty="0"/>
              <a:t> 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417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B"/>
                </a:solidFill>
                <a:latin typeface="Aptos"/>
              </a:defRPr>
            </a:pPr>
            <a:r>
              <a:t>React + Flask/Pika + RabbitMQ | Presentación técnica basada en evidencia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1408"/>
            <a:ext cx="7315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93180"/>
            <a:ext cx="6995160" cy="309810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65008" y="2121408"/>
            <a:ext cx="3611880" cy="4251960"/>
          </a:xfrm>
          <a:prstGeom prst="roundRect">
            <a:avLst/>
          </a:prstGeom>
          <a:solidFill>
            <a:srgbClr val="14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8743"/>
                </a:solidFill>
                <a:latin typeface="Aptos"/>
              </a:defRPr>
            </a:pPr>
            <a:r>
              <a:t>QUÉ DEMUESTRA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816352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Tres instancias EC2 para separar responsabilidades.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538728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Publicación asíncrona de mensajes.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4261104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Monitoreo y manejo de fallos con DLQ.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07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8743"/>
                </a:solidFill>
                <a:latin typeface="Aptos"/>
              </a:defRPr>
            </a:pPr>
            <a:r>
              <a:t>02 · AWS 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233"/>
                </a:solidFill>
                <a:latin typeface="Aptos"/>
              </a:defRPr>
            </a:pPr>
            <a:r>
              <a:t>Infraestructura desplegada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417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B"/>
                </a:solidFill>
                <a:latin typeface="Aptos"/>
              </a:defRPr>
            </a:pPr>
            <a:r>
              <a:t>La consola permite identificar los componentes activos del entorno.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1408"/>
            <a:ext cx="7315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285799"/>
            <a:ext cx="6995160" cy="171286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65008" y="2121408"/>
            <a:ext cx="3611880" cy="4251960"/>
          </a:xfrm>
          <a:prstGeom prst="roundRect">
            <a:avLst/>
          </a:prstGeom>
          <a:solidFill>
            <a:srgbClr val="14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8743"/>
                </a:solidFill>
                <a:latin typeface="Aptos"/>
              </a:defRPr>
            </a:pPr>
            <a:r>
              <a:t>QUÉ DEMUESTRA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816352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Frontend React + Vite.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538728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Backend Python + Flask + Pika.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4261104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Broker RabbitMQ en EC2.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983480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Conexión backend–broker por red privada.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07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8743"/>
                </a:solidFill>
                <a:latin typeface="Aptos"/>
              </a:defRPr>
            </a:pPr>
            <a:r>
              <a:t>03 · BROKER RABBITMQ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233"/>
                </a:solidFill>
                <a:latin typeface="Aptos"/>
              </a:defRPr>
            </a:pPr>
            <a:r>
              <a:t>Dos nodos, un clúster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417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B"/>
                </a:solidFill>
                <a:latin typeface="Aptos"/>
              </a:defRPr>
            </a:pPr>
            <a:r>
              <a:t>Docker Compose define dos contenedores con puertos y persistencia independientes.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1408"/>
            <a:ext cx="7315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010" y="2304288"/>
            <a:ext cx="2323875" cy="1773936"/>
          </a:xfrm>
          <a:prstGeom prst="rect">
            <a:avLst/>
          </a:prstGeom>
        </p:spPr>
      </p:pic>
      <p:pic>
        <p:nvPicPr>
          <p:cNvPr id="9" name="Picture 8" descr="p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039" y="4197096"/>
            <a:ext cx="2753817" cy="17830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65008" y="2121408"/>
            <a:ext cx="3611880" cy="4251960"/>
          </a:xfrm>
          <a:prstGeom prst="roundRect">
            <a:avLst/>
          </a:prstGeom>
          <a:solidFill>
            <a:srgbClr val="14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8743"/>
                </a:solidFill>
                <a:latin typeface="Aptos"/>
              </a:defRPr>
            </a:pPr>
            <a:r>
              <a:t>QUÉ DEMUESTRA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816352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rabbitmq-1: AMQP 5672.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538728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rabbitmq-2: AMQP 5673.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261104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Management: 15672 / 15673.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983480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Ambos nodos residen en una misma EC2.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07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8743"/>
                </a:solidFill>
                <a:latin typeface="Aptos"/>
              </a:defRPr>
            </a:pPr>
            <a:r>
              <a:t>04 ·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233"/>
                </a:solidFill>
                <a:latin typeface="Aptos"/>
              </a:defRPr>
            </a:pPr>
            <a:r>
              <a:t>Clúster verificado en ejecución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417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B"/>
                </a:solidFill>
                <a:latin typeface="Aptos"/>
              </a:defRPr>
            </a:pPr>
            <a:r>
              <a:t>Evidencia de arranque, unión al clúster y panel de administración.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1408"/>
            <a:ext cx="7315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3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5058"/>
            <a:ext cx="6995160" cy="1632395"/>
          </a:xfrm>
          <a:prstGeom prst="rect">
            <a:avLst/>
          </a:prstGeom>
        </p:spPr>
      </p:pic>
      <p:pic>
        <p:nvPicPr>
          <p:cNvPr id="9" name="Picture 8" descr="p4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764" y="4197096"/>
            <a:ext cx="3854366" cy="1783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65008" y="2121408"/>
            <a:ext cx="3611880" cy="4251960"/>
          </a:xfrm>
          <a:prstGeom prst="roundRect">
            <a:avLst/>
          </a:prstGeom>
          <a:solidFill>
            <a:srgbClr val="14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8743"/>
                </a:solidFill>
                <a:latin typeface="Aptos"/>
              </a:defRPr>
            </a:pPr>
            <a:r>
              <a:t>QUÉ DEMUESTRA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816352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docker compose up -d.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538728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rabbitmqctl join_cluster.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261104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RabbitMQ Management muestra nodos activos.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983480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Clúster ≠ tolerancia a caída de la EC2.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07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8743"/>
                </a:solidFill>
                <a:latin typeface="Aptos"/>
              </a:defRPr>
            </a:pPr>
            <a:r>
              <a:t>05 · CONTENEDORES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233"/>
                </a:solidFill>
                <a:latin typeface="Aptos"/>
              </a:defRPr>
            </a:pPr>
            <a:r>
              <a:t>Backend Python: servicios aislados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417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B"/>
                </a:solidFill>
                <a:latin typeface="Aptos"/>
              </a:defRPr>
            </a:pPr>
            <a:r>
              <a:t>Cinco servicios coordinados por Compose y archivos con responsabilidades diferenciadas.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1408"/>
            <a:ext cx="7315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99225"/>
            <a:ext cx="6995160" cy="1184061"/>
          </a:xfrm>
          <a:prstGeom prst="rect">
            <a:avLst/>
          </a:prstGeom>
        </p:spPr>
      </p:pic>
      <p:pic>
        <p:nvPicPr>
          <p:cNvPr id="9" name="Picture 8" descr="p6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487983"/>
            <a:ext cx="6995160" cy="120130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65008" y="2121408"/>
            <a:ext cx="3611880" cy="4251960"/>
          </a:xfrm>
          <a:prstGeom prst="roundRect">
            <a:avLst/>
          </a:prstGeom>
          <a:solidFill>
            <a:srgbClr val="14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8743"/>
                </a:solidFill>
                <a:latin typeface="Aptos"/>
              </a:defRPr>
            </a:pPr>
            <a:r>
              <a:t>QUÉ DEMUESTRA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816352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flask-api: API REST pública.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538728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rabbitmq-admin: administración.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261104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worker-normal / worker-prioritario.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983480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rabbitmq-init termina con exit 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07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8743"/>
                </a:solidFill>
                <a:latin typeface="Aptos"/>
              </a:defRPr>
            </a:pPr>
            <a:r>
              <a:t>06 · EXCHANGES Y BINDINGS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233"/>
                </a:solidFill>
                <a:latin typeface="Aptos"/>
              </a:defRPr>
            </a:pPr>
            <a:r>
              <a:t>Publicación y topología AMQP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417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B"/>
                </a:solidFill>
                <a:latin typeface="Aptos"/>
              </a:defRPr>
            </a:pPr>
            <a:r>
              <a:t>La configuración centralizada conecta productores, exchanges y colas.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1408"/>
            <a:ext cx="7315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9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96642"/>
            <a:ext cx="6995160" cy="28911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65008" y="2121408"/>
            <a:ext cx="3611880" cy="4251960"/>
          </a:xfrm>
          <a:prstGeom prst="roundRect">
            <a:avLst/>
          </a:prstGeom>
          <a:solidFill>
            <a:srgbClr val="14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8743"/>
                </a:solidFill>
                <a:latin typeface="Aptos"/>
              </a:defRPr>
            </a:pPr>
            <a:r>
              <a:t>QUÉ DEMUESTRA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816352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messaging_config.py define rutas.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538728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rabbitmq.py declara la topología.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4261104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app.events distribuye mensajes.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983480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app.dlx gestiona el dead-lettering.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07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8743"/>
                </a:solidFill>
                <a:latin typeface="Aptos"/>
              </a:defRPr>
            </a:pPr>
            <a:r>
              <a:t>07 · MENSAJERÍA RESILIENTE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233"/>
                </a:solidFill>
                <a:latin typeface="Aptos"/>
              </a:defRPr>
            </a:pPr>
            <a:r>
              <a:t>Colas principales y DLQ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417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B"/>
                </a:solidFill>
                <a:latin typeface="Aptos"/>
              </a:defRPr>
            </a:pPr>
            <a:r>
              <a:t>Captura real de RabbitMQ Management con las cuatro colas desplegadas.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1408"/>
            <a:ext cx="7315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9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96642"/>
            <a:ext cx="6995160" cy="28911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65008" y="2121408"/>
            <a:ext cx="3611880" cy="4251960"/>
          </a:xfrm>
          <a:prstGeom prst="roundRect">
            <a:avLst/>
          </a:prstGeom>
          <a:solidFill>
            <a:srgbClr val="14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8743"/>
                </a:solidFill>
                <a:latin typeface="Aptos"/>
              </a:defRPr>
            </a:pPr>
            <a:r>
              <a:t>QUÉ DEMUESTRA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816352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mensajes.normal + .dlq.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538728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mensajes.prioritarios + .dlq.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4261104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ACK al procesar correctamente.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983480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NACK y dead-letter al agotar reintentos.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07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8743"/>
                </a:solidFill>
                <a:latin typeface="Aptos"/>
              </a:defRPr>
            </a:pPr>
            <a:r>
              <a:t>08 · INTEGRACIÓN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233"/>
                </a:solidFill>
                <a:latin typeface="Aptos"/>
              </a:defRPr>
            </a:pPr>
            <a:r>
              <a:t>Frontend y monitoreo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417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B"/>
                </a:solidFill>
                <a:latin typeface="Aptos"/>
              </a:defRPr>
            </a:pPr>
            <a:r>
              <a:t>El dashboard consulta Flask y refleja métricas del broker.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1408"/>
            <a:ext cx="7315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276" y="2304288"/>
            <a:ext cx="4005343" cy="1773936"/>
          </a:xfrm>
          <a:prstGeom prst="rect">
            <a:avLst/>
          </a:prstGeom>
        </p:spPr>
      </p:pic>
      <p:pic>
        <p:nvPicPr>
          <p:cNvPr id="9" name="Picture 8" descr="p7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329" y="4197096"/>
            <a:ext cx="4607236" cy="1783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65008" y="2121408"/>
            <a:ext cx="3611880" cy="4251960"/>
          </a:xfrm>
          <a:prstGeom prst="roundRect">
            <a:avLst/>
          </a:prstGeom>
          <a:solidFill>
            <a:srgbClr val="14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8743"/>
                </a:solidFill>
                <a:latin typeface="Aptos"/>
              </a:defRPr>
            </a:pPr>
            <a:r>
              <a:t>QUÉ DEMUESTRA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816352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Estado de conexión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538728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Métricas por cola y consumidores.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261104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Envío individual y generación masiva.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983480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Errores simulados para probar DLQ.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07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8743"/>
                </a:solidFill>
                <a:latin typeface="Aptos"/>
              </a:defRPr>
            </a:pPr>
            <a:r>
              <a:t>09 · VALIDACIÓN FUNCIONAL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233"/>
                </a:solidFill>
                <a:latin typeface="Aptos"/>
              </a:defRPr>
            </a:pPr>
            <a:r>
              <a:t>Prueba de publicación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417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B"/>
                </a:solidFill>
                <a:latin typeface="Aptos"/>
              </a:defRPr>
            </a:pPr>
            <a:r>
              <a:t>Envío de lote desde React y confirmación en la interfaz.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1408"/>
            <a:ext cx="7315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22" y="2304288"/>
            <a:ext cx="5020651" cy="1773936"/>
          </a:xfrm>
          <a:prstGeom prst="rect">
            <a:avLst/>
          </a:prstGeom>
        </p:spPr>
      </p:pic>
      <p:pic>
        <p:nvPicPr>
          <p:cNvPr id="9" name="Picture 8" descr="p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95494"/>
            <a:ext cx="6995160" cy="58628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65008" y="2121408"/>
            <a:ext cx="3611880" cy="4251960"/>
          </a:xfrm>
          <a:prstGeom prst="roundRect">
            <a:avLst/>
          </a:prstGeom>
          <a:solidFill>
            <a:srgbClr val="14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8743"/>
                </a:solidFill>
                <a:latin typeface="Aptos"/>
              </a:defRPr>
            </a:pPr>
            <a:r>
              <a:t>QUÉ DEMUESTRA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816352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Prueba de 30 mensajes.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538728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Confirmación de publicación.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261104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Seguimiento en RabbitMQ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983480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Separación entre publicar y consumir.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07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48743"/>
                </a:solidFill>
                <a:latin typeface="Aptos"/>
              </a:defRPr>
            </a:pPr>
            <a:r>
              <a:t>10 ·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233"/>
                </a:solidFill>
                <a:latin typeface="Aptos"/>
              </a:defRPr>
            </a:pPr>
            <a:r>
              <a:t>Resultados y límites de la evidencia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4173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707B"/>
                </a:solidFill>
                <a:latin typeface="Aptos"/>
              </a:defRPr>
            </a:pPr>
            <a:r>
              <a:t>Se demuestra integración funcional y gestión de mensajes fallidos.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21408"/>
            <a:ext cx="7315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93180"/>
            <a:ext cx="6995160" cy="309810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65008" y="2121408"/>
            <a:ext cx="3611880" cy="4251960"/>
          </a:xfrm>
          <a:prstGeom prst="roundRect">
            <a:avLst/>
          </a:prstGeom>
          <a:solidFill>
            <a:srgbClr val="14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23957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48743"/>
                </a:solidFill>
                <a:latin typeface="Aptos"/>
              </a:defRPr>
            </a:pPr>
            <a:r>
              <a:t>QUÉ DEMUESTRA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816352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Dashboard muestra 25 prioritarios y 5 en cada DLQ.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950208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• Dos </a:t>
            </a:r>
            <a:r>
              <a:rPr dirty="0" err="1"/>
              <a:t>rutas</a:t>
            </a:r>
            <a:r>
              <a:rPr dirty="0"/>
              <a:t> </a:t>
            </a:r>
            <a:r>
              <a:rPr dirty="0" err="1"/>
              <a:t>principales</a:t>
            </a:r>
            <a:r>
              <a:rPr dirty="0"/>
              <a:t> </a:t>
            </a:r>
            <a:r>
              <a:rPr dirty="0" err="1"/>
              <a:t>comprobadas</a:t>
            </a:r>
            <a:r>
              <a:rPr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983480"/>
            <a:ext cx="30906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• Verificar exchanges direct y topic.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6480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07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492</Words>
  <Application>Microsoft Office PowerPoint</Application>
  <PresentationFormat>Panorámica</PresentationFormat>
  <Paragraphs>88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DANIEL IGNACIO BETANCOURT JEREZ</cp:lastModifiedBy>
  <cp:revision>3</cp:revision>
  <dcterms:created xsi:type="dcterms:W3CDTF">2013-01-27T09:14:16Z</dcterms:created>
  <dcterms:modified xsi:type="dcterms:W3CDTF">2026-10-26T02:43:08Z</dcterms:modified>
  <cp:category/>
</cp:coreProperties>
</file>